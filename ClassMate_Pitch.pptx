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4A"/>
              </a:gs>
              <a:gs pos="100000">
                <a:srgbClr val="0814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otlight"/>
          <p:cNvSpPr/>
          <p:nvPr/>
        </p:nvSpPr>
        <p:spPr>
          <a:xfrm>
            <a:off x="-502920" y="3886200"/>
            <a:ext cx="5029200" cy="5029200"/>
          </a:xfrm>
          <a:prstGeom prst="ellipse">
            <a:avLst/>
          </a:prstGeom>
          <a:solidFill>
            <a:srgbClr val="2563E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2"/>
          <p:cNvSpPr/>
          <p:nvPr/>
        </p:nvSpPr>
        <p:spPr>
          <a:xfrm>
            <a:off x="6446520" y="-2148840"/>
            <a:ext cx="6858000" cy="6858000"/>
          </a:xfrm>
          <a:prstGeom prst="ellipse">
            <a:avLst/>
          </a:prstGeom>
          <a:solidFill>
            <a:srgbClr val="2563EB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pic>
        <p:nvPicPr>
          <p:cNvPr id="5" name="heroLogo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057400"/>
            <a:ext cx="4572000" cy="3048000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Your Smart School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7DB2FF"/>
                </a:solidFill>
                <a:latin typeface="Calibri"/>
              </a:rPr>
              <a:t>One app for the whole school — plus a personal AI tutor in five languages.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7543800" y="-2057400"/>
            <a:ext cx="5943600" cy="5943600"/>
          </a:xfrm>
          <a:prstGeom prst="ellipse">
            <a:avLst/>
          </a:prstGeom>
          <a:solidFill>
            <a:srgbClr val="2563E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School life is scattered across a dozen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88920"/>
            <a:ext cx="96926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—  </a:t>
            </a:r>
            <a:r>
              <a:rPr sz="1900" b="1">
                <a:solidFill>
                  <a:srgbClr val="0F1B2D"/>
                </a:solidFill>
                <a:latin typeface="Calibri"/>
              </a:rPr>
              <a:t>Parents miss everything</a:t>
            </a:r>
            <a:r>
              <a:rPr sz="1600">
                <a:solidFill>
                  <a:srgbClr val="6B7A90"/>
                </a:solidFill>
                <a:latin typeface="Calibri"/>
              </a:rPr>
              <a:t>   grades &amp; notices lost in WhatsApp groups and paper notes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—  </a:t>
            </a:r>
            <a:r>
              <a:rPr sz="1900" b="1">
                <a:solidFill>
                  <a:srgbClr val="0F1B2D"/>
                </a:solidFill>
                <a:latin typeface="Calibri"/>
              </a:rPr>
              <a:t>Teachers drown in admin</a:t>
            </a:r>
            <a:r>
              <a:rPr sz="1600">
                <a:solidFill>
                  <a:srgbClr val="6B7A90"/>
                </a:solidFill>
                <a:latin typeface="Calibri"/>
              </a:rPr>
              <a:t>   attendance, grading and messaging in separate apps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—  </a:t>
            </a:r>
            <a:r>
              <a:rPr sz="1900" b="1">
                <a:solidFill>
                  <a:srgbClr val="0F1B2D"/>
                </a:solidFill>
                <a:latin typeface="Calibri"/>
              </a:rPr>
              <a:t>No tutoring for most kids</a:t>
            </a:r>
            <a:r>
              <a:rPr sz="1600">
                <a:solidFill>
                  <a:srgbClr val="6B7A90"/>
                </a:solidFill>
                <a:latin typeface="Calibri"/>
              </a:rPr>
              <a:t>   private tutors cost ₪150+/hour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—  </a:t>
            </a:r>
            <a:r>
              <a:rPr sz="1900" b="1">
                <a:solidFill>
                  <a:srgbClr val="0F1B2D"/>
                </a:solidFill>
                <a:latin typeface="Calibri"/>
              </a:rPr>
              <a:t>Nothing speaks their language</a:t>
            </a:r>
            <a:r>
              <a:rPr sz="1600">
                <a:solidFill>
                  <a:srgbClr val="6B7A90"/>
                </a:solidFill>
                <a:latin typeface="Calibri"/>
              </a:rPr>
              <a:t>   few tools support Arabic, Hebrew, Russian &amp; French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4A"/>
              </a:gs>
              <a:gs pos="100000">
                <a:srgbClr val="0814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DB2FF"/>
                </a:solidFill>
                <a:latin typeface="Calibri"/>
              </a:rPr>
              <a:t>MEET NOVA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A personal AI tutor for every student.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Explains, never just answers</a:t>
            </a:r>
            <a:r>
              <a:rPr sz="1400">
                <a:solidFill>
                  <a:srgbClr val="7DB2FF"/>
                </a:solidFill>
                <a:latin typeface="Calibri"/>
              </a:rPr>
              <a:t>   step-by-step, like a real tutor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Perfect math rendering</a:t>
            </a:r>
            <a:r>
              <a:rPr sz="1400">
                <a:solidFill>
                  <a:srgbClr val="7DB2FF"/>
                </a:solidFill>
                <a:latin typeface="Calibri"/>
              </a:rPr>
              <a:t>   real equations, not plain text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Five languages</a:t>
            </a:r>
            <a:r>
              <a:rPr sz="1400">
                <a:solidFill>
                  <a:srgbClr val="7DB2FF"/>
                </a:solidFill>
                <a:latin typeface="Calibri"/>
              </a:rPr>
              <a:t>   ask in Arabic, get help in Arabic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Safe &amp; scoped</a:t>
            </a:r>
            <a:r>
              <a:rPr sz="1400">
                <a:solidFill>
                  <a:srgbClr val="7DB2FF"/>
                </a:solidFill>
                <a:latin typeface="Calibri"/>
              </a:rPr>
              <a:t>   education-only, with guardrails</a:t>
            </a:r>
          </a:p>
        </p:txBody>
      </p:sp>
      <p:sp>
        <p:nvSpPr>
          <p:cNvPr id="7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PRACTICE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Master any topic, one question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Adaptive questions</a:t>
            </a:r>
            <a:r>
              <a:rPr sz="1400">
                <a:solidFill>
                  <a:srgbClr val="6B7A90"/>
                </a:solidFill>
                <a:latin typeface="Calibri"/>
              </a:rPr>
              <a:t>   generated for each student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Instant feedback</a:t>
            </a:r>
            <a:r>
              <a:rPr sz="1400">
                <a:solidFill>
                  <a:srgbClr val="6B7A90"/>
                </a:solidFill>
                <a:latin typeface="Calibri"/>
              </a:rPr>
              <a:t>   with full worked explanations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Every subject</a:t>
            </a:r>
            <a:r>
              <a:rPr sz="1400">
                <a:solidFill>
                  <a:srgbClr val="6B7A90"/>
                </a:solidFill>
                <a:latin typeface="Calibri"/>
              </a:rPr>
              <a:t>   math, sciences, languages &amp; more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Builds streaks</a:t>
            </a:r>
            <a:r>
              <a:rPr sz="1400">
                <a:solidFill>
                  <a:srgbClr val="6B7A90"/>
                </a:solidFill>
                <a:latin typeface="Calibri"/>
              </a:rPr>
              <a:t>   keeps students coming back</a:t>
            </a:r>
          </a:p>
        </p:txBody>
      </p:sp>
      <p:sp>
        <p:nvSpPr>
          <p:cNvPr id="7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c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GRADES &amp; SEMESTERS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Live results, organised by semester.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Every grade in real time</a:t>
            </a:r>
            <a:r>
              <a:rPr sz="1400">
                <a:solidFill>
                  <a:srgbClr val="6B7A90"/>
                </a:solidFill>
                <a:latin typeface="Calibri"/>
              </a:rPr>
              <a:t>   the moment a teacher posts it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This-semester / previous</a:t>
            </a:r>
            <a:r>
              <a:rPr sz="1400">
                <a:solidFill>
                  <a:srgbClr val="6B7A90"/>
                </a:solidFill>
                <a:latin typeface="Calibri"/>
              </a:rPr>
              <a:t>   one tap to switch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Smart highlights</a:t>
            </a:r>
            <a:r>
              <a:rPr sz="1400">
                <a:solidFill>
                  <a:srgbClr val="6B7A90"/>
                </a:solidFill>
                <a:latin typeface="Calibri"/>
              </a:rPr>
              <a:t>   “Top subject”, “Needs work”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Fully multilingual</a:t>
            </a:r>
            <a:r>
              <a:rPr sz="1400">
                <a:solidFill>
                  <a:srgbClr val="6B7A90"/>
                </a:solidFill>
                <a:latin typeface="Calibri"/>
              </a:rPr>
              <a:t>   exams shown in Arabic, Hebrew &amp;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064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↑ Real exam names in Arabic — native, not translated labels.</a:t>
            </a:r>
          </a:p>
        </p:txBody>
      </p:sp>
      <p:sp>
        <p:nvSpPr>
          <p:cNvPr id="8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COMMUNICATION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Teachers, parents and students —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Class &amp; direct chats</a:t>
            </a:r>
            <a:r>
              <a:rPr sz="1400">
                <a:solidFill>
                  <a:srgbClr val="6B7A90"/>
                </a:solidFill>
                <a:latin typeface="Calibri"/>
              </a:rPr>
              <a:t>   secure and in-app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Read receipts</a:t>
            </a:r>
            <a:r>
              <a:rPr sz="1400">
                <a:solidFill>
                  <a:srgbClr val="6B7A90"/>
                </a:solidFill>
                <a:latin typeface="Calibri"/>
              </a:rPr>
              <a:t>   know it was seen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Assignments &amp; materials</a:t>
            </a:r>
            <a:r>
              <a:rPr sz="1400">
                <a:solidFill>
                  <a:srgbClr val="6B7A90"/>
                </a:solidFill>
                <a:latin typeface="Calibri"/>
              </a:rPr>
              <a:t>   shared in the same thread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No more lost notes</a:t>
            </a:r>
            <a:r>
              <a:rPr sz="1400">
                <a:solidFill>
                  <a:srgbClr val="6B7A90"/>
                </a:solidFill>
                <a:latin typeface="Calibri"/>
              </a:rPr>
              <a:t>   every parent reached</a:t>
            </a:r>
          </a:p>
        </p:txBody>
      </p:sp>
      <p:sp>
        <p:nvSpPr>
          <p:cNvPr id="7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SCHEDULE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The whole week, beautifully 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Periods, times &amp; rooms</a:t>
            </a:r>
            <a:r>
              <a:rPr sz="1400">
                <a:solidFill>
                  <a:srgbClr val="6B7A90"/>
                </a:solidFill>
                <a:latin typeface="Calibri"/>
              </a:rPr>
              <a:t>   at a glance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“Next up” at a tap</a:t>
            </a:r>
            <a:r>
              <a:rPr sz="1400">
                <a:solidFill>
                  <a:srgbClr val="6B7A90"/>
                </a:solidFill>
                <a:latin typeface="Calibri"/>
              </a:rPr>
              <a:t>   never miss a class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Per-day &amp; per-week views</a:t>
            </a:r>
            <a:r>
              <a:rPr sz="1400">
                <a:solidFill>
                  <a:srgbClr val="6B7A90"/>
                </a:solidFill>
                <a:latin typeface="Calibri"/>
              </a:rPr>
              <a:t>   switch instantly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—  </a:t>
            </a:r>
            <a:r>
              <a:rPr sz="1700" b="1">
                <a:solidFill>
                  <a:srgbClr val="0F1B2D"/>
                </a:solidFill>
                <a:latin typeface="Calibri"/>
              </a:rPr>
              <a:t>Built for every role</a:t>
            </a:r>
            <a:r>
              <a:rPr sz="1400">
                <a:solidFill>
                  <a:srgbClr val="6B7A90"/>
                </a:solidFill>
                <a:latin typeface="Calibri"/>
              </a:rPr>
              <a:t>   students, teachers, admins</a:t>
            </a:r>
          </a:p>
        </p:txBody>
      </p:sp>
      <p:sp>
        <p:nvSpPr>
          <p:cNvPr id="7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4A"/>
              </a:gs>
              <a:gs pos="100000">
                <a:srgbClr val="0814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"/>
          <p:cNvSpPr/>
          <p:nvPr/>
        </p:nvSpPr>
        <p:spPr>
          <a:xfrm>
            <a:off x="6858000" y="365760"/>
            <a:ext cx="5852160" cy="5852160"/>
          </a:xfrm>
          <a:prstGeom prst="ellipse">
            <a:avLst/>
          </a:prstGeom>
          <a:solidFill>
            <a:srgbClr val="2563E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DB2FF"/>
                </a:solidFill>
                <a:latin typeface="Calibri"/>
              </a:rPr>
              <a:t>EXAM PREP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Every exam comes with a study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603504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See what's coming</a:t>
            </a:r>
            <a:r>
              <a:rPr sz="1400">
                <a:solidFill>
                  <a:srgbClr val="7DB2FF"/>
                </a:solidFill>
                <a:latin typeface="Calibri"/>
              </a:rPr>
              <a:t>   scheduled exams, front and centre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“Study with NOVA”</a:t>
            </a:r>
            <a:r>
              <a:rPr sz="1400">
                <a:solidFill>
                  <a:srgbClr val="7DB2FF"/>
                </a:solidFill>
                <a:latin typeface="Calibri"/>
              </a:rPr>
              <a:t>   revise the exact topic in one tap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Add to calendar</a:t>
            </a:r>
            <a:r>
              <a:rPr sz="1400">
                <a:solidFill>
                  <a:srgbClr val="7DB2FF"/>
                </a:solidFill>
                <a:latin typeface="Calibri"/>
              </a:rPr>
              <a:t>   never get caught off guard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DB2FF"/>
                </a:solidFill>
                <a:latin typeface="Calibri"/>
              </a:rPr>
              <a:t>—  </a:t>
            </a:r>
            <a:r>
              <a:rPr sz="1700" b="1">
                <a:solidFill>
                  <a:srgbClr val="FFFFFF"/>
                </a:solidFill>
                <a:latin typeface="Calibri"/>
              </a:rPr>
              <a:t>Materials attached</a:t>
            </a:r>
            <a:r>
              <a:rPr sz="1400">
                <a:solidFill>
                  <a:srgbClr val="7DB2FF"/>
                </a:solidFill>
                <a:latin typeface="Calibri"/>
              </a:rPr>
              <a:t>   everything in one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064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DB2FF"/>
                </a:solidFill>
                <a:latin typeface="Calibri"/>
              </a:rPr>
              <a:t>A scheduled exam — with NOVA revision built right in.</a:t>
            </a:r>
          </a:p>
        </p:txBody>
      </p:sp>
      <p:sp>
        <p:nvSpPr>
          <p:cNvPr id="8" name="device"/>
          <p:cNvSpPr/>
          <p:nvPr/>
        </p:nvSpPr>
        <p:spPr>
          <a:xfrm>
            <a:off x="8732520" y="960120"/>
            <a:ext cx="2399159" cy="5065776"/>
          </a:xfrm>
          <a:prstGeom prst="roundRect">
            <a:avLst>
              <a:gd name="adj" fmla="val 6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024128"/>
            <a:ext cx="2271143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22A4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"/>
          <p:cNvSpPr/>
          <p:nvPr/>
        </p:nvSpPr>
        <p:spPr>
          <a:xfrm>
            <a:off x="2377440" y="-1828800"/>
            <a:ext cx="7315200" cy="73152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4" name="kicker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DB2FF"/>
                </a:solidFill>
                <a:latin typeface="Calibri"/>
              </a:rPr>
              <a:t>BUILT FOR EVERY FAMILY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Fully native in five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8631" y="29260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8631" y="321868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2563EB"/>
                </a:solidFill>
                <a:latin typeface="Calibri"/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631" y="4133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39" y="29260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39" y="321868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2563EB"/>
                </a:solidFill>
                <a:latin typeface="Calibri"/>
              </a:rPr>
              <a:t>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0039" y="4133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العربية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447" y="29260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321868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2563EB"/>
                </a:solidFill>
                <a:latin typeface="Calibri"/>
              </a:rPr>
              <a:t>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4133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עברית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2855" y="29260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02855" y="321868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2563EB"/>
                </a:solidFill>
                <a:latin typeface="Calibri"/>
              </a:rPr>
              <a:t>Éé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2855" y="4133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Français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24263" y="29260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4263" y="321868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2563EB"/>
                </a:solidFill>
                <a:latin typeface="Calibri"/>
              </a:rPr>
              <a:t>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4263" y="4133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Русский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7DB2FF"/>
                </a:solidFill>
                <a:latin typeface="Calibri"/>
              </a:rPr>
              <a:t>Every screen, every role — full right-to-left for Arabic &amp; Hebrew.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potlight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solidFill>
            <a:srgbClr val="2563E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cmMark" descr="ic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188720" y="13258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WHY CLASSMATE WINS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188720" y="1709928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F1B2D"/>
                </a:solidFill>
                <a:latin typeface="Calibri"/>
              </a:rPr>
              <a:t>Not just another school portal.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An actual AI tutor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everyone else gives a portal; we give a tutor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697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True five-language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Arabic + Hebrew RTL, underserved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593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Branded to your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25112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your logo &amp; name — it feels like your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593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Safe &amp; private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25112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scoped AI, role-based access, your data stays yours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21224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Premium on every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86984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phone, tablet &amp; web — feels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21224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One app, not 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586984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replaces the patchwork you use today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4A"/>
              </a:gs>
              <a:gs pos="100000">
                <a:srgbClr val="0814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"/>
          <p:cNvSpPr/>
          <p:nvPr/>
        </p:nvSpPr>
        <p:spPr>
          <a:xfrm>
            <a:off x="3712464" y="1051560"/>
            <a:ext cx="4754880" cy="4754880"/>
          </a:xfrm>
          <a:prstGeom prst="ellipse">
            <a:avLst/>
          </a:prstGeom>
          <a:solidFill>
            <a:srgbClr val="2563EB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4" name="kicker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DB2FF"/>
                </a:solidFill>
                <a:latin typeface="Calibri"/>
              </a:rPr>
              <a:t>SIMPLE, FAIR PRICING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Less than a coffee — per student, per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8808" y="2286000"/>
            <a:ext cx="3840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78808" y="256032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2563EB"/>
                </a:solidFill>
                <a:latin typeface="Calibri"/>
              </a:rPr>
              <a:t>₪10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808" y="3611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B2D"/>
                </a:solidFill>
                <a:latin typeface="Calibri"/>
              </a:rPr>
              <a:t>per student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40690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90"/>
                </a:solidFill>
                <a:latin typeface="Calibri"/>
              </a:rPr>
              <a:t>or ₪100/year — 2 months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7DB2FF"/>
                </a:solidFill>
                <a:latin typeface="Calibri"/>
              </a:rPr>
              <a:t>Whole platform + NOVA included. Free single-grade pilot to start.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4A"/>
              </a:gs>
              <a:gs pos="100000">
                <a:srgbClr val="0814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potlight"/>
          <p:cNvSpPr/>
          <p:nvPr/>
        </p:nvSpPr>
        <p:spPr>
          <a:xfrm>
            <a:off x="2432304" y="-914400"/>
            <a:ext cx="7315200" cy="7315200"/>
          </a:xfrm>
          <a:prstGeom prst="ellipse">
            <a:avLst/>
          </a:prstGeom>
          <a:solidFill>
            <a:srgbClr val="2563E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pic>
        <p:nvPicPr>
          <p:cNvPr id="4" name="heroLogo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1874519"/>
            <a:ext cx="4114800" cy="2743200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Give every student a smarter school.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7DB2FF"/>
                </a:solidFill>
                <a:latin typeface="Calibri"/>
              </a:rPr>
              <a:t>Let's set up your free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Tony Aboud   •   tony@classmateapp.org   •   classmateapp.org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85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